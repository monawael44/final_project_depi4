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BC-483C-9F09-2A7BEE31FF84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BC-483C-9F09-2A7BEE31FF84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BC-483C-9F09-2A7BEE31FF84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BC-483C-9F09-2A7BEE31FF84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BC-483C-9F09-2A7BEE31FF84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BC-483C-9F09-2A7BEE31FF84}"/>
              </c:ext>
            </c:extLst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BC-483C-9F09-2A7BEE31FF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Bridges &amp;
Tunnels</c:v>
                </c:pt>
                <c:pt idx="1">
                  <c:v>Access-A-Ride</c:v>
                </c:pt>
                <c:pt idx="2">
                  <c:v>LIRR</c:v>
                </c:pt>
                <c:pt idx="3">
                  <c:v>Subways</c:v>
                </c:pt>
                <c:pt idx="4">
                  <c:v>Buses</c:v>
                </c:pt>
                <c:pt idx="5">
                  <c:v>Metro-North</c:v>
                </c:pt>
                <c:pt idx="6">
                  <c:v>Staten Island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93.4</c:v>
                </c:pt>
                <c:pt idx="1">
                  <c:v>86.2</c:v>
                </c:pt>
                <c:pt idx="2">
                  <c:v>59.1</c:v>
                </c:pt>
                <c:pt idx="3">
                  <c:v>55.5</c:v>
                </c:pt>
                <c:pt idx="4">
                  <c:v>54.7</c:v>
                </c:pt>
                <c:pt idx="5">
                  <c:v>51.1</c:v>
                </c:pt>
                <c:pt idx="6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BC-483C-9F09-2A7BEE31FF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Subways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26.3</c:v>
                </c:pt>
                <c:pt idx="1">
                  <c:v>46.4</c:v>
                </c:pt>
                <c:pt idx="2">
                  <c:v>61.3</c:v>
                </c:pt>
                <c:pt idx="3">
                  <c:v>70</c:v>
                </c:pt>
                <c:pt idx="4">
                  <c:v>71.2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86-4E50-925E-7751AAEB6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Buses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28.5</c:v>
                </c:pt>
                <c:pt idx="1">
                  <c:v>48</c:v>
                </c:pt>
                <c:pt idx="2">
                  <c:v>59.8</c:v>
                </c:pt>
                <c:pt idx="3">
                  <c:v>68.5</c:v>
                </c:pt>
                <c:pt idx="4">
                  <c:v>69.2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86-4E50-925E-7751AAEB6A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LIRR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22.4</c:v>
                </c:pt>
                <c:pt idx="1">
                  <c:v>43.1</c:v>
                </c:pt>
                <c:pt idx="2">
                  <c:v>63.5</c:v>
                </c:pt>
                <c:pt idx="3">
                  <c:v>72</c:v>
                </c:pt>
                <c:pt idx="4">
                  <c:v>73.5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86-4E50-925E-7751AAEB6A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Metro-North</c:v>
                </c:pt>
              </c:strCache>
            </c:strRef>
          </c:tx>
          <c:spPr>
            <a:ln w="31750" cap="flat">
              <a:solidFill>
                <a:srgbClr val="6366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18.100000000000001</c:v>
                </c:pt>
                <c:pt idx="1">
                  <c:v>38.200000000000003</c:v>
                </c:pt>
                <c:pt idx="2">
                  <c:v>57.3</c:v>
                </c:pt>
                <c:pt idx="3">
                  <c:v>65</c:v>
                </c:pt>
                <c:pt idx="4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86-4E50-925E-7751AAEB6A7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Bridges &amp; Tunnels</c:v>
                </c:pt>
              </c:strCache>
            </c:strRef>
          </c:tx>
          <c:spPr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68.2</c:v>
                </c:pt>
                <c:pt idx="1">
                  <c:v>87.4</c:v>
                </c:pt>
                <c:pt idx="2">
                  <c:v>97.2</c:v>
                </c:pt>
                <c:pt idx="3">
                  <c:v>99.8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386-4E50-925E-7751AAEB6A7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Access-A-Ride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55.3</c:v>
                </c:pt>
                <c:pt idx="1">
                  <c:v>72.099999999999994</c:v>
                </c:pt>
                <c:pt idx="2">
                  <c:v>87.4</c:v>
                </c:pt>
                <c:pt idx="3">
                  <c:v>98.2</c:v>
                </c:pt>
                <c:pt idx="4">
                  <c:v>110.5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386-4E50-925E-7751AAEB6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68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MTA ridership from March 2020 through October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COVID-19 lockdown caused an unprecedented collapse. In just 5 weeks, the NYC subway went from 5.5 million to under 200,000 daily riders — a 96%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 ridership fell even harder than the subway — nearly 100% drop. Unlike subways, buses depend heavily on street-level mobility. Essential workers (healthcare, grocery, transit staff) were almost the only riders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LIRR ridership dropped 99.4% — from 321,000 daily riders to under 2,000. Long Island commuters who normally flooded Penn Station simply stopped commuting. By 2024, LIRR recovered to about 73% — better than Metro-North but still below pre-pandemic.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Metro-North tells the remote work story clearly. The average recovery of just 51% means suburban commuters are permanently working fewer days in the city. The new Oct 2024 peak (249K) is actually the highest point in the dataset — but weekday averages remain well below pre-pandemic.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Access-A-Ride (paratransit for mobility-limited riders) had a 93.8% drop during lockdown — services were nearly suspended. But by 2024, demand not only recovered but exceeded pre-pandemic levels by 26%. This reflects NYC's aging population and growing mobility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&amp; Tunnels had the smallest drop of all modes — only 85% — and recovered fastest. Car traffic bounced back quickly because people preferred personal vehicles over shared transit. By 2023-2024, B&amp;T traffic actually exceeded pre-pandemic levels on many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&amp; Tunnels saw the fastest recovery. Metro-North remains the slowest. Access-A-Ride actually exceeded pre-pandemic levels by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Year-by-year recovery. Bridges &amp; Tunnels recovered quickly and consistently. Subways and buses plateaued at ~70%. Commuter rail followed a slightly lower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takeaways: 1) Car traffic recovered fastest. 2) Remote work permanently reduced commuter rail demand. 3) New paratransit demand emerged. 4) Subway plateaued at ~70%.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MTA survived the pandemic, but the city's relationship with transit has fundamentally shifted.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Slide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2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oldLine"/>
          <p:cNvSpPr/>
          <p:nvPr/>
        </p:nvSpPr>
        <p:spPr>
          <a:xfrm>
            <a:off x="457200" y="107899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 Daily Ridership Analysis</a:t>
            </a:r>
            <a:endParaRPr lang="en-US" sz="3600" dirty="0"/>
          </a:p>
        </p:txBody>
      </p:sp>
      <p:sp>
        <p:nvSpPr>
          <p:cNvPr id="9" name="Subtitle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Impact &amp; Recovery Study</a:t>
            </a:r>
            <a:endParaRPr lang="en-US" sz="2200" dirty="0"/>
          </a:p>
        </p:txBody>
      </p:sp>
      <p:sp>
        <p:nvSpPr>
          <p:cNvPr id="10" name="BlueLine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amHdr"/>
          <p:cNvSpPr/>
          <p:nvPr/>
        </p:nvSpPr>
        <p:spPr>
          <a:xfrm>
            <a:off x="457200" y="2450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2" name="ML0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Mirna Rafaat El-Sayed</a:t>
            </a:r>
            <a:endParaRPr lang="en-US" sz="1300" dirty="0"/>
          </a:p>
        </p:txBody>
      </p:sp>
      <p:sp>
        <p:nvSpPr>
          <p:cNvPr id="13" name="ML1"/>
          <p:cNvSpPr/>
          <p:nvPr/>
        </p:nvSpPr>
        <p:spPr>
          <a:xfrm>
            <a:off x="73152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 Wael Dahesh</a:t>
            </a:r>
            <a:endParaRPr lang="en-US" sz="1300" dirty="0"/>
          </a:p>
        </p:txBody>
      </p:sp>
      <p:sp>
        <p:nvSpPr>
          <p:cNvPr id="14" name="ML2"/>
          <p:cNvSpPr/>
          <p:nvPr/>
        </p:nvSpPr>
        <p:spPr>
          <a:xfrm>
            <a:off x="731520" y="3602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Nour Saeed Ahmed</a:t>
            </a:r>
            <a:endParaRPr lang="en-US" sz="1300" dirty="0"/>
          </a:p>
        </p:txBody>
      </p:sp>
      <p:sp>
        <p:nvSpPr>
          <p:cNvPr id="15" name="MR0"/>
          <p:cNvSpPr/>
          <p:nvPr/>
        </p:nvSpPr>
        <p:spPr>
          <a:xfrm>
            <a:off x="47548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Shahd Mohamed Mahmoud</a:t>
            </a:r>
            <a:endParaRPr lang="en-US" sz="1300" dirty="0"/>
          </a:p>
        </p:txBody>
      </p:sp>
      <p:sp>
        <p:nvSpPr>
          <p:cNvPr id="16" name="MR1"/>
          <p:cNvSpPr/>
          <p:nvPr/>
        </p:nvSpPr>
        <p:spPr>
          <a:xfrm>
            <a:off x="475488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Lily Ihab Farouq</a:t>
            </a:r>
            <a:endParaRPr lang="en-US" sz="1300" dirty="0"/>
          </a:p>
        </p:txBody>
      </p:sp>
      <p:sp>
        <p:nvSpPr>
          <p:cNvPr id="17" name="MR2"/>
          <p:cNvSpPr/>
          <p:nvPr/>
        </p:nvSpPr>
        <p:spPr>
          <a:xfrm>
            <a:off x="4754880" y="3602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Fatma Maged Mohamed</a:t>
            </a:r>
            <a:endParaRPr lang="en-US" sz="1300" dirty="0"/>
          </a:p>
        </p:txBody>
      </p:sp>
      <p:sp>
        <p:nvSpPr>
          <p:cNvPr id="18" name="DivLine2"/>
          <p:cNvSpPr/>
          <p:nvPr/>
        </p:nvSpPr>
        <p:spPr>
          <a:xfrm>
            <a:off x="457200" y="4069080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upervisor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supervision of: Dr. Yasser Abd El-Rahman</a:t>
            </a:r>
            <a:endParaRPr lang="en-US" sz="1600" b="1" dirty="0"/>
          </a:p>
        </p:txBody>
      </p:sp>
      <p:sp>
        <p:nvSpPr>
          <p:cNvPr id="20" name="Footer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Metropolitan Transportation Authority  ·  2020 – 2024</a:t>
            </a:r>
            <a:endParaRPr lang="en-US" sz="900" dirty="0"/>
          </a:p>
        </p:txBody>
      </p:sp>
      <p:pic>
        <p:nvPicPr>
          <p:cNvPr id="30" name="logo_depi" descr="DEPI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5676"/>
            <a:ext cx="1600200" cy="898160"/>
          </a:xfrm>
          <a:prstGeom prst="rect">
            <a:avLst/>
          </a:prstGeom>
        </p:spPr>
      </p:pic>
      <p:pic>
        <p:nvPicPr>
          <p:cNvPr id="31" name="logo_yat" descr="YAT Learning Cente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400" y="45720"/>
            <a:ext cx="1433160" cy="9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/>
          <p:nvPr/>
        </p:nvSpPr>
        <p:spPr>
          <a:xfrm>
            <a:off x="0" y="-11430"/>
            <a:ext cx="38404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Icon"/>
          <p:cNvSpPr/>
          <p:nvPr/>
        </p:nvSpPr>
        <p:spPr>
          <a:xfrm>
            <a:off x="228601" y="1965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" name="SLabel"/>
          <p:cNvSpPr/>
          <p:nvPr/>
        </p:nvSpPr>
        <p:spPr>
          <a:xfrm>
            <a:off x="777240" y="137160"/>
            <a:ext cx="24414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BigTitle1"/>
          <p:cNvSpPr/>
          <p:nvPr/>
        </p:nvSpPr>
        <p:spPr>
          <a:xfrm>
            <a:off x="256032" y="8046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COVID-19
Crisis</a:t>
            </a:r>
            <a:endParaRPr lang="en-US" sz="3000" dirty="0"/>
          </a:p>
        </p:txBody>
      </p:sp>
      <p:sp>
        <p:nvSpPr>
          <p:cNvPr id="6" name="DateLbl"/>
          <p:cNvSpPr/>
          <p:nvPr/>
        </p:nvSpPr>
        <p:spPr>
          <a:xfrm>
            <a:off x="256032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2020 – October 2024</a:t>
            </a:r>
            <a:endParaRPr lang="en-US" sz="1100" dirty="0"/>
          </a:p>
        </p:txBody>
      </p:sp>
      <p:sp>
        <p:nvSpPr>
          <p:cNvPr id="7" name="LeftDiv"/>
          <p:cNvSpPr/>
          <p:nvPr/>
        </p:nvSpPr>
        <p:spPr>
          <a:xfrm>
            <a:off x="256032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Box0"/>
          <p:cNvSpPr/>
          <p:nvPr/>
        </p:nvSpPr>
        <p:spPr>
          <a:xfrm>
            <a:off x="256032" y="2514600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atVal0"/>
          <p:cNvSpPr/>
          <p:nvPr/>
        </p:nvSpPr>
        <p:spPr>
          <a:xfrm>
            <a:off x="274320" y="25328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800" dirty="0"/>
          </a:p>
        </p:txBody>
      </p:sp>
      <p:sp>
        <p:nvSpPr>
          <p:cNvPr id="10" name="StatLbl0"/>
          <p:cNvSpPr/>
          <p:nvPr/>
        </p:nvSpPr>
        <p:spPr>
          <a:xfrm>
            <a:off x="14173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Low (Apr 2020)</a:t>
            </a:r>
            <a:endParaRPr lang="en-US" sz="800" dirty="0"/>
          </a:p>
        </p:txBody>
      </p:sp>
      <p:sp>
        <p:nvSpPr>
          <p:cNvPr id="11" name="StatBox1"/>
          <p:cNvSpPr/>
          <p:nvPr/>
        </p:nvSpPr>
        <p:spPr>
          <a:xfrm>
            <a:off x="256032" y="3172968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Val1"/>
          <p:cNvSpPr/>
          <p:nvPr/>
        </p:nvSpPr>
        <p:spPr>
          <a:xfrm>
            <a:off x="274320" y="319125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800" dirty="0"/>
          </a:p>
        </p:txBody>
      </p:sp>
      <p:sp>
        <p:nvSpPr>
          <p:cNvPr id="13" name="StatLbl1"/>
          <p:cNvSpPr/>
          <p:nvPr/>
        </p:nvSpPr>
        <p:spPr>
          <a:xfrm>
            <a:off x="1417320" y="3218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Recovery 2024</a:t>
            </a:r>
            <a:endParaRPr lang="en-US" sz="800" dirty="0"/>
          </a:p>
        </p:txBody>
      </p:sp>
      <p:sp>
        <p:nvSpPr>
          <p:cNvPr id="14" name="StatBox2"/>
          <p:cNvSpPr/>
          <p:nvPr/>
        </p:nvSpPr>
        <p:spPr>
          <a:xfrm>
            <a:off x="256032" y="3831335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atVal2"/>
          <p:cNvSpPr/>
          <p:nvPr/>
        </p:nvSpPr>
        <p:spPr>
          <a:xfrm>
            <a:off x="274320" y="3849623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103%</a:t>
            </a:r>
            <a:endParaRPr lang="en-US" sz="1800" dirty="0"/>
          </a:p>
        </p:txBody>
      </p:sp>
      <p:sp>
        <p:nvSpPr>
          <p:cNvPr id="16" name="StatLbl2"/>
          <p:cNvSpPr/>
          <p:nvPr/>
        </p:nvSpPr>
        <p:spPr>
          <a:xfrm>
            <a:off x="1417320" y="387705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B&amp;T Exceeded</a:t>
            </a:r>
            <a:endParaRPr lang="en-US" sz="800" dirty="0"/>
          </a:p>
        </p:txBody>
      </p:sp>
      <p:sp>
        <p:nvSpPr>
          <p:cNvPr id="17" name="Card0"/>
          <p:cNvSpPr/>
          <p:nvPr/>
        </p:nvSpPr>
        <p:spPr>
          <a:xfrm>
            <a:off x="3749039" y="201168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Icon0"/>
          <p:cNvSpPr/>
          <p:nvPr/>
        </p:nvSpPr>
        <p:spPr>
          <a:xfrm>
            <a:off x="3822191" y="274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9" name="CTitle0"/>
          <p:cNvSpPr/>
          <p:nvPr/>
        </p:nvSpPr>
        <p:spPr>
          <a:xfrm>
            <a:off x="4370832" y="274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Collapse (2020)</a:t>
            </a:r>
            <a:endParaRPr lang="en-US" sz="1300" dirty="0"/>
          </a:p>
        </p:txBody>
      </p:sp>
      <p:sp>
        <p:nvSpPr>
          <p:cNvPr id="20" name="CDiv0"/>
          <p:cNvSpPr/>
          <p:nvPr/>
        </p:nvSpPr>
        <p:spPr>
          <a:xfrm>
            <a:off x="3822191" y="658368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Body0"/>
          <p:cNvSpPr/>
          <p:nvPr/>
        </p:nvSpPr>
        <p:spPr>
          <a:xfrm>
            <a:off x="3822191" y="731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April 2020, NYC transit crashed to just 4% of normal levels. The MTA saw subway ridership drop from 5.5M daily riders to under 200K overnight as lockdowns began.</a:t>
            </a:r>
            <a:endParaRPr lang="en-US" sz="1000" dirty="0"/>
          </a:p>
        </p:txBody>
      </p:sp>
      <p:sp>
        <p:nvSpPr>
          <p:cNvPr id="22" name="Card1"/>
          <p:cNvSpPr/>
          <p:nvPr/>
        </p:nvSpPr>
        <p:spPr>
          <a:xfrm>
            <a:off x="3749039" y="1691639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Icon1"/>
          <p:cNvSpPr/>
          <p:nvPr/>
        </p:nvSpPr>
        <p:spPr>
          <a:xfrm>
            <a:off x="3822191" y="1764791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CTitle1"/>
          <p:cNvSpPr/>
          <p:nvPr/>
        </p:nvSpPr>
        <p:spPr>
          <a:xfrm>
            <a:off x="4370832" y="1764791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Recovery (2021–2023)</a:t>
            </a:r>
            <a:endParaRPr lang="en-US" sz="1300" dirty="0"/>
          </a:p>
        </p:txBody>
      </p:sp>
      <p:sp>
        <p:nvSpPr>
          <p:cNvPr id="25" name="CDiv1"/>
          <p:cNvSpPr/>
          <p:nvPr/>
        </p:nvSpPr>
        <p:spPr>
          <a:xfrm>
            <a:off x="3822191" y="2148839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CBody1"/>
          <p:cNvSpPr/>
          <p:nvPr/>
        </p:nvSpPr>
        <p:spPr>
          <a:xfrm>
            <a:off x="3822191" y="2221991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 rebounded fastest — 100%+ by 2022 — while subways plateaued at ~71%. Commuter rails (LIRR, Metro-North) recovered faster than buses, reflecting suburban return-to-office patterns.</a:t>
            </a:r>
            <a:endParaRPr lang="en-US" sz="1000" dirty="0"/>
          </a:p>
        </p:txBody>
      </p:sp>
      <p:sp>
        <p:nvSpPr>
          <p:cNvPr id="27" name="Card2"/>
          <p:cNvSpPr/>
          <p:nvPr/>
        </p:nvSpPr>
        <p:spPr>
          <a:xfrm>
            <a:off x="3749039" y="3182112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CIcon2"/>
          <p:cNvSpPr/>
          <p:nvPr/>
        </p:nvSpPr>
        <p:spPr>
          <a:xfrm>
            <a:off x="3822191" y="32552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9" name="CTitle2"/>
          <p:cNvSpPr/>
          <p:nvPr/>
        </p:nvSpPr>
        <p:spPr>
          <a:xfrm>
            <a:off x="4370832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Shift in Behavior</a:t>
            </a:r>
            <a:endParaRPr lang="en-US" sz="1300" dirty="0"/>
          </a:p>
        </p:txBody>
      </p:sp>
      <p:sp>
        <p:nvSpPr>
          <p:cNvPr id="30" name="CDiv2"/>
          <p:cNvSpPr/>
          <p:nvPr/>
        </p:nvSpPr>
        <p:spPr>
          <a:xfrm>
            <a:off x="3822191" y="3639312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Body2"/>
          <p:cNvSpPr/>
          <p:nvPr/>
        </p:nvSpPr>
        <p:spPr>
          <a:xfrm>
            <a:off x="3822191" y="37124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didn't just disrupt transit — it rewired how people think about commuting. Remote and hybrid work became permanent for millions. The 29% gap still remaining in subway ridership is not a recovery lag — it is the new normal.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0000"/>
                </a:solidFill>
              </a:rPr>
              <a:t>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 Daily Ridership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Recovery Analysis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2004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City Transit  ·  March 2020 – October 2024  ·  1,706 days of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Tracked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Modes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Riders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5.5M riders on March 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198K riders by April 12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−96% in just 5 weeks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Fastest crash in MTA 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4,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12,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Riders Lost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days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2.24M riders on March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5,498 riders by April 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−99.8% — near total collapse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Essential workers only kept riding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−99.8%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5,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5,498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Lost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trips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321K riders on March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1,903 riders by April 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−99.4% in under 8 weeks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Offices closed = no commuters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−99.4%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LIRR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891B2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Lost</a:t>
            </a:r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 rail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1B00"/>
          </a:solidFill>
          <a:ln w="12700">
            <a:solidFill>
              <a:srgbClr val="2D1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205K riders on Mar 6, 2020 (pre-lockdown)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3,281 riders by April 12, 2020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−98.4% at peak collapse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Remote work = permanent low baseline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−98.4%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ridership drop  |  Spring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Pre-Pandemic Peak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6,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12,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201.8K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Rider Lost</a:t>
            </a:r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Slowest mode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34,297 trips on Mar 4, 2020 (pre-lockdown)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2,506 trips by April 26, 2020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−92.9% during lockdown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Exceeded 126% of pre-pandemic by 2024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−92.9%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drop  |  Spring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Pre-Pandemic Peak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4,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7C3AED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by 2024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Exceeded baseline!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2020 – Winter 2021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945K vehicles on Mar 6, 2020 (pre-lockdown)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156K vehicles on Feb 1, 2021 (lowest point)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−83% drop — smallest of all modes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First to fully recover — back above 100%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B&amp;T traffic drop  |  Peak to Trough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16A34A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945K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Pre-Lockdown Peak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6,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Point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1, 2021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16A34A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~93%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Avg Recov.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recovery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Mode Recovered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% of Pre-Pandemic Level  |  2020–2024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515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6A34A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Road Wins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89320" y="15270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 recovered fastest. People preferred driving over shared transit.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3774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7C3AED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New Record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8932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demand in 2024 surpassed pre-pandemic levels by 26%.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37033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WFH Effect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3749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989320" y="41788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is still at half pre-pandemic levels — suburban commuters went remote permanently.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Journey: 2020 → 2024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transit mode recovered year by year (avg % of pre-pandemic baseline)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6A34A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Beat Transit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749040" cy="18288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given a choice, people chose driving over shared transit. Bridges &amp; Tunnels hit 93% recovery while subways reached only 56%. The pandemic accelerated car dependency in NYC.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D97706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Is Permanent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664208"/>
            <a:ext cx="3749040" cy="18288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is still at 51% pre-pandemic levels — not recovering, stabilizing at a new lower baseline. Suburban office commuters simply aren't coming back 5 days a week.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7C3AED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Demand Was Born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74904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301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paratransit exceeded 100% of pre-pandemic trips in 2024 — up 26%. Mobility-limited New Yorkers not only returned, they needed more service than before.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563EB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  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Subway: Partial Recovery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538728"/>
            <a:ext cx="3749040" cy="18288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6301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subway ridership plateaued around 70-71% of pre-pandemic levels in 2023-2024. Tourism and local trips rebounded; daily office commutes did not.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3657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🚇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Transit Survived COVID.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way we commute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changed — permanently.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MTA Open Data Portal  ·  March 2020 – October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 days  ·  7 transit modes  ·  Millions of New Yorkers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1322</Words>
  <Application>Microsoft Office PowerPoint</Application>
  <PresentationFormat>On-screen Show (16:9)</PresentationFormat>
  <Paragraphs>217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MTA Daily Ridership — COVID Recovery Analysis</dc:title>
  <dc:subject>PptxGenJS Presentation</dc:subject>
  <dc:creator>PptxGenJS</dc:creator>
  <cp:lastModifiedBy>Mona Wael</cp:lastModifiedBy>
  <cp:revision>3</cp:revision>
  <dcterms:created xsi:type="dcterms:W3CDTF">2026-06-25T22:08:25Z</dcterms:created>
  <dcterms:modified xsi:type="dcterms:W3CDTF">2026-06-27T23:50:22Z</dcterms:modified>
</cp:coreProperties>
</file>